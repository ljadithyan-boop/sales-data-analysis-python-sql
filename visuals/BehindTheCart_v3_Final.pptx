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(₹K)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D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Electronics</c:v>
                  </c:pt>
                  <c:pt idx="1">
                    <c:v>Furniture</c:v>
                  </c:pt>
                  <c:pt idx="2">
                    <c:v>Clothing</c:v>
                  </c:pt>
                  <c:pt idx="3">
                    <c:v>Grocery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8240</c:v>
                </c:pt>
                <c:pt idx="1">
                  <c:v>1330</c:v>
                </c:pt>
                <c:pt idx="2">
                  <c:v>384</c:v>
                </c:pt>
                <c:pt idx="3">
                  <c:v>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(₹K)</c:v>
                </c:pt>
              </c:strCache>
            </c:strRef>
          </c:tx>
          <c:spPr>
            <a:solidFill>
              <a:srgbClr val="2E7DD1"/>
            </a:solidFill>
            <a:ln w="38100" cap="flat">
              <a:solidFill>
                <a:srgbClr val="2E7DD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DD1"/>
              </a:solidFill>
              <a:ln w="9525" cap="flat">
                <a:solidFill>
                  <a:srgbClr val="2E7DD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720</c:v>
                </c:pt>
                <c:pt idx="1">
                  <c:v>2180</c:v>
                </c:pt>
                <c:pt idx="2">
                  <c:v>160</c:v>
                </c:pt>
                <c:pt idx="3">
                  <c:v>1160</c:v>
                </c:pt>
                <c:pt idx="4">
                  <c:v>140</c:v>
                </c:pt>
                <c:pt idx="5">
                  <c:v>280</c:v>
                </c:pt>
                <c:pt idx="6">
                  <c:v>310</c:v>
                </c:pt>
                <c:pt idx="7">
                  <c:v>920</c:v>
                </c:pt>
                <c:pt idx="8">
                  <c:v>1640</c:v>
                </c:pt>
                <c:pt idx="9">
                  <c:v>100</c:v>
                </c:pt>
                <c:pt idx="10">
                  <c:v>960</c:v>
                </c:pt>
                <c:pt idx="11">
                  <c:v>1750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B3A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D1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33.5</c:v>
                </c:pt>
                <c:pt idx="1">
                  <c:v>27.5</c:v>
                </c:pt>
                <c:pt idx="2">
                  <c:v>20.1</c:v>
                </c:pt>
                <c:pt idx="3">
                  <c:v>18.9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(₹K)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D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Priya</c:v>
                  </c:pt>
                  <c:pt idx="1">
                    <c:v>Rahul</c:v>
                  </c:pt>
                  <c:pt idx="2">
                    <c:v>Adithyan</c:v>
                  </c:pt>
                  <c:pt idx="3">
                    <c:v>Divya</c:v>
                  </c:pt>
                  <c:pt idx="4">
                    <c:v>Arjun</c:v>
                  </c:pt>
                  <c:pt idx="5">
                    <c:v>Meera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2071</c:v>
                </c:pt>
                <c:pt idx="1">
                  <c:v>1874</c:v>
                </c:pt>
                <c:pt idx="2">
                  <c:v>1860</c:v>
                </c:pt>
                <c:pt idx="3">
                  <c:v>1671</c:v>
                </c:pt>
                <c:pt idx="4">
                  <c:v>1317</c:v>
                </c:pt>
                <c:pt idx="5">
                  <c:v>1223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B3A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B4F8A">
              <a:alpha val="25000"/>
            </a:srgbClr>
          </a:solidFill>
          <a:ln w="12700">
            <a:solidFill>
              <a:srgbClr val="1B4F8A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2E7DD1">
              <a:alpha val="40000"/>
            </a:srgbClr>
          </a:solidFill>
          <a:ln w="12700">
            <a:solidFill>
              <a:srgbClr val="2E7DD1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6012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2E7DD1">
              <a:alpha val="80000"/>
            </a:srgbClr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BCA FINAL YEAR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CART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RetailSales Analytics Dashboard  ·  FY 2024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Data-Driven Insights Across Categories, Regions &amp; Sales Teams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1371600" cy="36576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749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Adithyan L J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BCA Final Year  ·  Data Analytics  ·  IZEE Business School, Bengaluru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4407408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0D9488">
              <a:alpha val="3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4074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Excel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83080" y="4407408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2E7DD1">
              <a:alpha val="35000"/>
            </a:srgbClr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83080" y="44074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Python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08960" y="4407408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D97706">
              <a:alpha val="3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44074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SQLite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34840" y="4407408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5A5AE0">
              <a:alpha val="35000"/>
            </a:srgbClr>
          </a:solidFill>
          <a:ln w="12700">
            <a:solidFill>
              <a:srgbClr val="5A5A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44074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Power BI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621792"/>
            <a:ext cx="8503920" cy="27432"/>
          </a:xfrm>
          <a:prstGeom prst="rect">
            <a:avLst/>
          </a:prstGeom>
          <a:solidFill>
            <a:srgbClr val="1B4F8A">
              <a:alpha val="60000"/>
            </a:srgbClr>
          </a:solidFill>
          <a:ln w="12700">
            <a:solidFill>
              <a:srgbClr val="1B4F8A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 retail business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hidden insights from raw sales data?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24688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Most retail businesses collect thousands of transactions but fail to analyse them effectively. This project bridges that gap — turning raw Excel data into actionable business intelligence.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0" y="1005840"/>
            <a:ext cx="1417320" cy="1188720"/>
          </a:xfrm>
          <a:prstGeom prst="rect">
            <a:avLst/>
          </a:prstGeom>
          <a:solidFill>
            <a:srgbClr val="1B4F8A">
              <a:alpha val="25000"/>
            </a:srgbClr>
          </a:solidFill>
          <a:ln w="12700">
            <a:solidFill>
              <a:srgbClr val="2E7DD1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26480" y="1005840"/>
            <a:ext cx="1417320" cy="45720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14300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126480" y="17373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Transactions analysed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680960" y="1005840"/>
            <a:ext cx="1417320" cy="1188720"/>
          </a:xfrm>
          <a:prstGeom prst="rect">
            <a:avLst/>
          </a:prstGeom>
          <a:solidFill>
            <a:srgbClr val="1B4F8A">
              <a:alpha val="25000"/>
            </a:srgbClr>
          </a:solidFill>
          <a:ln w="12700">
            <a:solidFill>
              <a:srgbClr val="2E7DD1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680960" y="1005840"/>
            <a:ext cx="1417320" cy="45720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114300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680960" y="17373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Tools in the pipeline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2423160"/>
            <a:ext cx="1417320" cy="1188720"/>
          </a:xfrm>
          <a:prstGeom prst="rect">
            <a:avLst/>
          </a:prstGeom>
          <a:solidFill>
            <a:srgbClr val="1B4F8A">
              <a:alpha val="25000"/>
            </a:srgbClr>
          </a:solidFill>
          <a:ln w="12700">
            <a:solidFill>
              <a:srgbClr val="2E7DD1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2423160"/>
            <a:ext cx="1417320" cy="45720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5603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126480" y="315468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SQL queries written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680960" y="2423160"/>
            <a:ext cx="1417320" cy="1188720"/>
          </a:xfrm>
          <a:prstGeom prst="rect">
            <a:avLst/>
          </a:prstGeom>
          <a:solidFill>
            <a:srgbClr val="1B4F8A">
              <a:alpha val="25000"/>
            </a:srgbClr>
          </a:solidFill>
          <a:ln w="12700">
            <a:solidFill>
              <a:srgbClr val="2E7DD1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0" y="2423160"/>
            <a:ext cx="1417320" cy="45720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25603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7680960" y="315468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Business insights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4389120"/>
            <a:ext cx="8503920" cy="54864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This project demonstrates a complete, reproducible data analytics pipeline — from raw data to board-ready insights.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</a:rPr>
              <a:t>PROJECT OBJECTIVES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What this project sets out to achieve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4160520" cy="64008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37160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DD1">
              <a:alpha val="85000"/>
            </a:srgbClr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35331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Analyse Sales Performance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184708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Examine revenue trends across 4 product categories, 4 regions, and 6 salespersons for the full year 2024.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18872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188720"/>
            <a:ext cx="41605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73752" y="137160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49240" y="135331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Build a Full Data Pipeline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73752" y="184708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Design and implement an end-to-end workflow: Excel ingestion → Python cleaning → SQLite storage → Power BI dashboard.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06324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063240"/>
            <a:ext cx="416052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324612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D97706">
              <a:alpha val="8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322783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Identify Key Patterns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" y="372160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Discover peak revenue months, top-performing segments, and underperforming areas using exploratory data analysis.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06324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063240"/>
            <a:ext cx="416052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73752" y="324612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49240" y="322783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Deliver Actionable Insights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73752" y="372160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Translate data findings into real business recommendations that can guide inventory, marketing, and sales strategies.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</a:rPr>
              <a:t>TOOLS &amp; TECHNOLOGIES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The complete tech stack powering this project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27432"/>
          </a:xfrm>
          <a:prstGeom prst="rect">
            <a:avLst/>
          </a:prstGeom>
          <a:solidFill>
            <a:srgbClr val="1B4F8A">
              <a:alpha val="60000"/>
            </a:srgbClr>
          </a:solidFill>
          <a:ln w="12700">
            <a:solidFill>
              <a:srgbClr val="1B4F8A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8412480" cy="804672"/>
          </a:xfrm>
          <a:prstGeom prst="rect">
            <a:avLst/>
          </a:prstGeom>
          <a:solidFill>
            <a:srgbClr val="1B4F8A">
              <a:alpha val="2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9144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71016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0D9488">
              <a:alpha val="7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7101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</a:rPr>
              <a:t>INPUT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371600" y="119786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Microsoft Excel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1563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Data Source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31920" y="1307592"/>
            <a:ext cx="27432" cy="502920"/>
          </a:xfrm>
          <a:prstGeom prst="rect">
            <a:avLst/>
          </a:prstGeom>
          <a:solidFill>
            <a:srgbClr val="1B4F8A">
              <a:alpha val="70000"/>
            </a:srgbClr>
          </a:solidFill>
          <a:ln w="12700">
            <a:solidFill>
              <a:srgbClr val="1B4F8A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2344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Raw retail sales dataset — 500 records, 11 columns, FY 2024.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075688"/>
            <a:ext cx="8412480" cy="804672"/>
          </a:xfrm>
          <a:prstGeom prst="rect">
            <a:avLst/>
          </a:prstGeom>
          <a:solidFill>
            <a:srgbClr val="1B4F8A">
              <a:alpha val="20000"/>
            </a:srgbClr>
          </a:solidFill>
          <a:ln w="12700">
            <a:solidFill>
              <a:srgbClr val="2E7DD1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075688"/>
            <a:ext cx="91440" cy="804672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203704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2E7DD1">
              <a:alpha val="75000"/>
            </a:srgbClr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20370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</a:rPr>
              <a:t>PROCESS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371600" y="213055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Python 3 + pandas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24963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D1"/>
                </a:solidFill>
              </a:rPr>
              <a:t>Data Processing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31920" y="2240280"/>
            <a:ext cx="27432" cy="502920"/>
          </a:xfrm>
          <a:prstGeom prst="rect">
            <a:avLst/>
          </a:prstGeom>
          <a:solidFill>
            <a:srgbClr val="1B4F8A">
              <a:alpha val="70000"/>
            </a:srgbClr>
          </a:solidFill>
          <a:ln w="12700">
            <a:solidFill>
              <a:srgbClr val="1B4F8A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2167128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Cleaning, transformation, feature engineering, chart generation with matplotlib.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008376"/>
            <a:ext cx="8412480" cy="804672"/>
          </a:xfrm>
          <a:prstGeom prst="rect">
            <a:avLst/>
          </a:prstGeom>
          <a:solidFill>
            <a:srgbClr val="1B4F8A">
              <a:alpha val="20000"/>
            </a:srgbClr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008376"/>
            <a:ext cx="91440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3136392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D97706">
              <a:alpha val="7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13639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</a:rPr>
              <a:t>STORE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371600" y="30632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SQLite + SQL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71600" y="3429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</a:rPr>
              <a:t>Database Storage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931920" y="3172968"/>
            <a:ext cx="27432" cy="502920"/>
          </a:xfrm>
          <a:prstGeom prst="rect">
            <a:avLst/>
          </a:prstGeom>
          <a:solidFill>
            <a:srgbClr val="1B4F8A">
              <a:alpha val="70000"/>
            </a:srgbClr>
          </a:solidFill>
          <a:ln w="12700">
            <a:solidFill>
              <a:srgbClr val="1B4F8A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0" y="3099816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Relational DB for structured query analysis. 12 queries written. DB Browser used as GUI.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3941064"/>
            <a:ext cx="8412480" cy="804672"/>
          </a:xfrm>
          <a:prstGeom prst="rect">
            <a:avLst/>
          </a:prstGeom>
          <a:solidFill>
            <a:srgbClr val="1B4F8A">
              <a:alpha val="2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941064"/>
            <a:ext cx="91440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4069080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8B5CF6">
              <a:alpha val="7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0690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</a:rPr>
              <a:t>OUTPUT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371600" y="39959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Microsoft Power BI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371600" y="43616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</a:rPr>
              <a:t>Visualisation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931920" y="4105656"/>
            <a:ext cx="27432" cy="502920"/>
          </a:xfrm>
          <a:prstGeom prst="rect">
            <a:avLst/>
          </a:prstGeom>
          <a:solidFill>
            <a:srgbClr val="1B4F8A">
              <a:alpha val="70000"/>
            </a:srgbClr>
          </a:solidFill>
          <a:ln w="12700">
            <a:solidFill>
              <a:srgbClr val="1B4F8A">
                <a:alpha val="7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0" y="4032504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Interactive dashboard with KPI cards, slicers, DAX measures and drill-through reports.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</a:rPr>
              <a:t>DATASET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RetailSales_Dataset.xlsx  ·  500 rows  ·  11 columns  ·  FY 2024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1325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97280"/>
            <a:ext cx="1325880" cy="54864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152144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56032" y="16916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Total Records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19072" y="1097280"/>
            <a:ext cx="1325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719072" y="1097280"/>
            <a:ext cx="13258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19072" y="1152144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719072" y="16916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Columns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82112" y="1097280"/>
            <a:ext cx="1325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82112" y="1097280"/>
            <a:ext cx="13258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82112" y="1152144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182112" y="16916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Categories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45152" y="1097280"/>
            <a:ext cx="1325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45152" y="1097280"/>
            <a:ext cx="132588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1152144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645152" y="16916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Regions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08192" y="1097280"/>
            <a:ext cx="1325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08192" y="1097280"/>
            <a:ext cx="132588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08192" y="1152144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108192" y="16916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Salespersons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571232" y="1097280"/>
            <a:ext cx="1325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571232" y="1097280"/>
            <a:ext cx="13258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71232" y="1152144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571232" y="16916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Missing Values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22128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Column Schema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2487168"/>
          <a:ext cx="52120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54864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OrderID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TEXT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Unique transaction identifier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Date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DATE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Order date — Jan to Dec 2024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TEXT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North / South / East / West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TEXT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Electronics · Furniture · Clothing · Grocery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Quantity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INT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Units sold per order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UnitPrice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REAL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Price per unit in ₹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Discount(%)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INT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Discount tier: 0, 5, 10, 15, 20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TotalSales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REAL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Final value after discount in ₹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Salesperson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TEXT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Employee who closed the order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 29"/>
          <p:cNvSpPr/>
          <p:nvPr/>
        </p:nvSpPr>
        <p:spPr>
          <a:xfrm>
            <a:off x="5760720" y="22128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Sample Record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742432" y="2487168"/>
            <a:ext cx="31089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742432" y="2487168"/>
            <a:ext cx="310896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833872" y="248716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ORD-001  ·  2024-02-14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833872" y="29260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Region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7114032" y="2926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North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833872" y="31729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Category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7114032" y="31729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Electronics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5833872" y="341985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Product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7114032" y="34198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Laptop Pro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5833872" y="366674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Quantity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7114032" y="366674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2 units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5833872" y="39136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Unit Price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7114032" y="39136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₹45,000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5833872" y="4160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Discount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7114032" y="4160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10%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5833872" y="440740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Total Sales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7114032" y="44074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₹81,000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5833872" y="465429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Salesperson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7114032" y="465429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Priya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</a:rPr>
              <a:t>METHODOLOGY &amp; DATA PIPELINE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How raw data was transformed into insights — end to end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463040" cy="2011680"/>
          </a:xfrm>
          <a:prstGeom prst="rect">
            <a:avLst/>
          </a:prstGeom>
          <a:solidFill>
            <a:srgbClr val="1B4F8A">
              <a:alpha val="28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14630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1247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6733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0D9488"/>
                </a:solidFill>
              </a:rPr>
              <a:t>INGEST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Excel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Data Source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441448"/>
            <a:ext cx="1097280" cy="18288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68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500 rows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11 columns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56232" y="1947672"/>
            <a:ext cx="237744" cy="0"/>
          </a:xfrm>
          <a:prstGeom prst="line">
            <a:avLst/>
          </a:prstGeom>
          <a:noFill/>
          <a:ln w="19050">
            <a:solidFill>
              <a:srgbClr val="2E7DD1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67128" y="960120"/>
            <a:ext cx="1463040" cy="2011680"/>
          </a:xfrm>
          <a:prstGeom prst="rect">
            <a:avLst/>
          </a:prstGeom>
          <a:solidFill>
            <a:srgbClr val="1B4F8A">
              <a:alpha val="28000"/>
            </a:srgbClr>
          </a:solidFill>
          <a:ln w="12700">
            <a:solidFill>
              <a:srgbClr val="2E7DD1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167128" y="960120"/>
            <a:ext cx="1463040" cy="64008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70048" y="11247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E7DD1">
              <a:alpha val="80000"/>
            </a:srgbClr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70048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212848" y="16733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2E7DD1"/>
                </a:solidFill>
              </a:rPr>
              <a:t>CLEAN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212848" y="18745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Python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212848" y="219456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pandas + clean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350008" y="2441448"/>
            <a:ext cx="1097280" cy="18288"/>
          </a:xfrm>
          <a:prstGeom prst="rect">
            <a:avLst/>
          </a:prstGeom>
          <a:solidFill>
            <a:srgbClr val="2E7DD1">
              <a:alpha val="45000"/>
            </a:srgbClr>
          </a:solidFill>
          <a:ln w="12700">
            <a:solidFill>
              <a:srgbClr val="2E7DD1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12848" y="2468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Date parse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0 nulls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703320" y="1947672"/>
            <a:ext cx="237744" cy="0"/>
          </a:xfrm>
          <a:prstGeom prst="line">
            <a:avLst/>
          </a:prstGeom>
          <a:noFill/>
          <a:ln w="19050">
            <a:solidFill>
              <a:srgbClr val="2E7DD1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14216" y="960120"/>
            <a:ext cx="1463040" cy="2011680"/>
          </a:xfrm>
          <a:prstGeom prst="rect">
            <a:avLst/>
          </a:prstGeom>
          <a:solidFill>
            <a:srgbClr val="1B4F8A">
              <a:alpha val="28000"/>
            </a:srgbClr>
          </a:solidFill>
          <a:ln w="12700">
            <a:solidFill>
              <a:srgbClr val="D97706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014216" y="960120"/>
            <a:ext cx="146304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17136" y="11247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17136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059936" y="16733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D97706"/>
                </a:solidFill>
              </a:rPr>
              <a:t>STORE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059936" y="18745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SQLite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059936" y="219456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DB Storage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97096" y="2441448"/>
            <a:ext cx="1097280" cy="18288"/>
          </a:xfrm>
          <a:prstGeom prst="rect">
            <a:avLst/>
          </a:prstGeom>
          <a:solidFill>
            <a:srgbClr val="D97706">
              <a:alpha val="45000"/>
            </a:srgbClr>
          </a:solidFill>
          <a:ln w="12700">
            <a:solidFill>
              <a:srgbClr val="D97706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59936" y="2468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12 queries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1 VIEW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50408" y="1947672"/>
            <a:ext cx="237744" cy="0"/>
          </a:xfrm>
          <a:prstGeom prst="line">
            <a:avLst/>
          </a:prstGeom>
          <a:noFill/>
          <a:ln w="19050">
            <a:solidFill>
              <a:srgbClr val="2E7DD1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61304" y="960120"/>
            <a:ext cx="1463040" cy="2011680"/>
          </a:xfrm>
          <a:prstGeom prst="rect">
            <a:avLst/>
          </a:prstGeom>
          <a:solidFill>
            <a:srgbClr val="1B4F8A">
              <a:alpha val="28000"/>
            </a:srgbClr>
          </a:solidFill>
          <a:ln w="12700">
            <a:solidFill>
              <a:srgbClr val="E879F9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861304" y="960120"/>
            <a:ext cx="1463040" cy="64008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64224" y="11247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79F9">
              <a:alpha val="80000"/>
            </a:srgbClr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64224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907024" y="16733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E879F9"/>
                </a:solidFill>
              </a:rPr>
              <a:t>ANALYSE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907024" y="18745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matplotlib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907024" y="219456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Charts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044184" y="2441448"/>
            <a:ext cx="1097280" cy="18288"/>
          </a:xfrm>
          <a:prstGeom prst="rect">
            <a:avLst/>
          </a:prstGeom>
          <a:solidFill>
            <a:srgbClr val="E879F9">
              <a:alpha val="45000"/>
            </a:srgbClr>
          </a:solidFill>
          <a:ln w="12700">
            <a:solidFill>
              <a:srgbClr val="E879F9">
                <a:alpha val="4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07024" y="2468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4 charts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PNG export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97496" y="1947672"/>
            <a:ext cx="237744" cy="0"/>
          </a:xfrm>
          <a:prstGeom prst="line">
            <a:avLst/>
          </a:prstGeom>
          <a:noFill/>
          <a:ln w="19050">
            <a:solidFill>
              <a:srgbClr val="2E7DD1">
                <a:alpha val="7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08392" y="960120"/>
            <a:ext cx="1463040" cy="2011680"/>
          </a:xfrm>
          <a:prstGeom prst="rect">
            <a:avLst/>
          </a:prstGeom>
          <a:solidFill>
            <a:srgbClr val="1B4F8A">
              <a:alpha val="28000"/>
            </a:srgbClr>
          </a:solidFill>
          <a:ln w="12700">
            <a:solidFill>
              <a:srgbClr val="8B5CF6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708392" y="960120"/>
            <a:ext cx="146304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11312" y="11247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11312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754112" y="16733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8B5CF6"/>
                </a:solidFill>
              </a:rPr>
              <a:t>REPORT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7754112" y="18745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Power BI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7754112" y="219456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Dashboard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891272" y="2441448"/>
            <a:ext cx="1097280" cy="18288"/>
          </a:xfrm>
          <a:prstGeom prst="rect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54112" y="2468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KPIs · Slicers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Drill-through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0040" y="3154680"/>
            <a:ext cx="8503920" cy="502920"/>
          </a:xfrm>
          <a:prstGeom prst="rect">
            <a:avLst/>
          </a:prstGeom>
          <a:solidFill>
            <a:srgbClr val="1B4F8A">
              <a:alpha val="18000"/>
            </a:srgbClr>
          </a:solidFill>
          <a:ln w="12700">
            <a:solidFill>
              <a:srgbClr val="2E7DD1">
                <a:alpha val="4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1480" y="31546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All steps scripted in  analysis.py  ·  SQL queries in  sales_schema.sql  ·  Dashboard in  RETAIL_SALES_DASHBOARD.pbix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20040" y="3749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Deliverables: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463040" y="3749040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2E7DD1">
              <a:alpha val="25000"/>
            </a:srgbClr>
          </a:solidFill>
          <a:ln w="12700">
            <a:solidFill>
              <a:srgbClr val="2E7DD1">
                <a:alpha val="7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463040" y="37490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analysis.py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980944" y="3749040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D97706">
              <a:alpha val="25000"/>
            </a:srgbClr>
          </a:solidFill>
          <a:ln w="12700">
            <a:solidFill>
              <a:srgbClr val="D97706">
                <a:alpha val="7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980944" y="37490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sales_schema.sql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498848" y="3749040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98848" y="37490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sales_database.db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016752" y="3749040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E879F9">
              <a:alpha val="25000"/>
            </a:srgbClr>
          </a:solidFill>
          <a:ln w="12700">
            <a:solidFill>
              <a:srgbClr val="E879F9">
                <a:alpha val="7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016752" y="37490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sales_charts.png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7534656" y="3749040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8B5CF6">
              <a:alpha val="25000"/>
            </a:srgbClr>
          </a:solidFill>
          <a:ln w="1270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534656" y="37490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RETAIL_SALES_DASHBOARD.pbix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</a:rPr>
              <a:t>EXECUTIVE SUMMARY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FY 2024  ·  Retail Sales Performance at a Glance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1993392" cy="1508760"/>
          </a:xfrm>
          <a:prstGeom prst="rect">
            <a:avLst/>
          </a:prstGeom>
          <a:solidFill>
            <a:srgbClr val="1B4F8A">
              <a:alpha val="25000"/>
            </a:srgbClr>
          </a:solidFill>
          <a:ln w="12700">
            <a:solidFill>
              <a:srgbClr val="0D9488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1993392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5156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₹10,017K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56032" y="173736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Total Revenue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6032" y="201168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Full year 2024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32304" y="960120"/>
            <a:ext cx="1993392" cy="1508760"/>
          </a:xfrm>
          <a:prstGeom prst="rect">
            <a:avLst/>
          </a:prstGeom>
          <a:solidFill>
            <a:srgbClr val="1B4F8A">
              <a:alpha val="25000"/>
            </a:srgbClr>
          </a:solidFill>
          <a:ln w="12700">
            <a:solidFill>
              <a:srgbClr val="2E7DD1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32304" y="960120"/>
            <a:ext cx="1993392" cy="64008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2304" y="105156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32304" y="173736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Total Orders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432304" y="201168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Transactions processed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08576" y="960120"/>
            <a:ext cx="1993392" cy="1508760"/>
          </a:xfrm>
          <a:prstGeom prst="rect">
            <a:avLst/>
          </a:prstGeom>
          <a:solidFill>
            <a:srgbClr val="1B4F8A">
              <a:alpha val="25000"/>
            </a:srgbClr>
          </a:solidFill>
          <a:ln w="12700">
            <a:solidFill>
              <a:srgbClr val="D97706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08576" y="960120"/>
            <a:ext cx="1993392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105156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₹20,034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08576" y="173736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Avg Order Value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08576" y="201168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Per transaction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84848" y="960120"/>
            <a:ext cx="1993392" cy="1508760"/>
          </a:xfrm>
          <a:prstGeom prst="rect">
            <a:avLst/>
          </a:prstGeom>
          <a:solidFill>
            <a:srgbClr val="1B4F8A">
              <a:alpha val="25000"/>
            </a:srgbClr>
          </a:solidFill>
          <a:ln w="12700">
            <a:solidFill>
              <a:srgbClr val="8B5CF6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84848" y="960120"/>
            <a:ext cx="1993392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84848" y="105156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84848" y="173736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Top Salesperson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784848" y="201168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₹2,071K revenue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" y="2697480"/>
            <a:ext cx="8631936" cy="27432"/>
          </a:xfrm>
          <a:prstGeom prst="rect">
            <a:avLst/>
          </a:prstGeom>
          <a:solidFill>
            <a:srgbClr val="1B4F8A">
              <a:alpha val="60000"/>
            </a:srgbClr>
          </a:solidFill>
          <a:ln w="12700">
            <a:solidFill>
              <a:srgbClr val="1B4F8A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2788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Key Highlights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6032" y="3127248"/>
            <a:ext cx="54864" cy="292608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12724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Electronics dominates with 82% of total revenue — driven by high unit-price products.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6032" y="3566160"/>
            <a:ext cx="54864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35661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North region leads with 33.5% revenue share; West lags at 18.9% — a clear growth opportunity.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6032" y="4005072"/>
            <a:ext cx="54864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40050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Strong Q4 recovery: Nov–Dec surge signals seasonal demand peaks for inventory planning.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6032" y="4443984"/>
            <a:ext cx="54864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4443984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Sales team is well-balanced — all 6 reps within ₹850K of each other.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</a:rPr>
              <a:t>REVENUE BY CATEGORY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Electronics dominates with 82% of total revenue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97280"/>
          <a:ext cx="530352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806440" y="1143000"/>
            <a:ext cx="3017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06440" y="1143000"/>
            <a:ext cx="82296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89320" y="12161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Electronics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89320" y="15636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₹8,240K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269480" y="15636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82.3%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806440" y="2075688"/>
            <a:ext cx="3017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06440" y="2075688"/>
            <a:ext cx="82296" cy="804672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1488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Furniture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89320" y="24963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₹1,330K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269480" y="24963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D1"/>
                </a:solidFill>
              </a:rPr>
              <a:t>13.3%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806440" y="3008376"/>
            <a:ext cx="3017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06440" y="3008376"/>
            <a:ext cx="82296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89320" y="30815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Clothing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89320" y="3429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₹384K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269480" y="3429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3.8%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06440" y="3941064"/>
            <a:ext cx="3017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806440" y="3941064"/>
            <a:ext cx="82296" cy="80467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89320" y="40142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Grocery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989320" y="4361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₹63K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269480" y="4361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4A3B8"/>
                </a:solidFill>
              </a:rPr>
              <a:t>0.6%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806440" y="4773168"/>
            <a:ext cx="3017520" cy="274320"/>
          </a:xfrm>
          <a:prstGeom prst="rect">
            <a:avLst/>
          </a:prstGeom>
          <a:solidFill>
            <a:srgbClr val="0F2044">
              <a:alpha val="90000"/>
            </a:srgbClr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97880" y="47731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</a:rPr>
              <a:t>⚠  Grocery category needs urgent SKU review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</a:rPr>
              <a:t>MONTHLY REVENUE TREND — 2024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Volatile pattern with Feb &amp; Sep peaks; strong Q4 year-end recovery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60120"/>
          <a:ext cx="85953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256032" y="4407408"/>
            <a:ext cx="2743200" cy="502920"/>
          </a:xfrm>
          <a:prstGeom prst="rect">
            <a:avLst/>
          </a:prstGeom>
          <a:solidFill>
            <a:srgbClr val="1B4F8A">
              <a:alpha val="25000"/>
            </a:srgbClr>
          </a:solidFill>
          <a:ln w="12700">
            <a:solidFill>
              <a:srgbClr val="2E7DD1">
                <a:alpha val="6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56032" y="4407408"/>
            <a:ext cx="64008" cy="502920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93192" y="440740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D1"/>
                </a:solidFill>
              </a:rPr>
              <a:t>Q1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86384" y="440740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Feb spike — high-value Electronics batch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82112" y="4407408"/>
            <a:ext cx="2743200" cy="502920"/>
          </a:xfrm>
          <a:prstGeom prst="rect">
            <a:avLst/>
          </a:prstGeom>
          <a:solidFill>
            <a:srgbClr val="1B4F8A">
              <a:alpha val="25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82112" y="4407408"/>
            <a:ext cx="64008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19272" y="440740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Q3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712464" y="440740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Sep recovery after mid-year dip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108192" y="4407408"/>
            <a:ext cx="2743200" cy="502920"/>
          </a:xfrm>
          <a:prstGeom prst="rect">
            <a:avLst/>
          </a:prstGeom>
          <a:solidFill>
            <a:srgbClr val="1B4F8A">
              <a:alpha val="25000"/>
            </a:srgbClr>
          </a:solidFill>
          <a:ln w="12700">
            <a:solidFill>
              <a:srgbClr val="D97706">
                <a:alpha val="6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08192" y="4407408"/>
            <a:ext cx="64008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45352" y="440740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Q4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638544" y="440740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Nov–Dec surge — seasonal demand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</a:rPr>
              <a:t>REVENUE SHARE BY REGION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North region leads with ⅓ of total national revenue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97280"/>
          <a:ext cx="45720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166360" y="1143000"/>
            <a:ext cx="3657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166360" y="1143000"/>
            <a:ext cx="82296" cy="804672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49240" y="119786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North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349240" y="15819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Highest revenue region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949440" y="1280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33.5%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5166360" y="2075688"/>
            <a:ext cx="3657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166360" y="2075688"/>
            <a:ext cx="82296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49240" y="21305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South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349240" y="2514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Strong 2nd performer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949440" y="22128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27.5%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5166360" y="3008376"/>
            <a:ext cx="3657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166360" y="3008376"/>
            <a:ext cx="82296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49240" y="3063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East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349240" y="34472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Growth opportunity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949440" y="314553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20.1%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5166360" y="3941064"/>
            <a:ext cx="3657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166360" y="3941064"/>
            <a:ext cx="82296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49240" y="39959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West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349240" y="43799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Lowest — needs focus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949440" y="407822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18.9%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</a:rPr>
              <a:t>SALES TEAM PERFORMANCE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Individual revenue contribution — all six reps within 70% of the top performer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56692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080760" y="960120"/>
            <a:ext cx="2743200" cy="1463040"/>
          </a:xfrm>
          <a:prstGeom prst="rect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80760" y="960120"/>
            <a:ext cx="27432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72200" y="1051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B5CF6"/>
                </a:solidFill>
              </a:rPr>
              <a:t>TOP PERFORMER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172200" y="12984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172200" y="1783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</a:rPr>
              <a:t>₹2,071K revenue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80760" y="2560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94A3B8"/>
                </a:solidFill>
              </a:rPr>
              <a:t>Closest rival: Rahul at ₹1,874K  (gap: ₹197K)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80760" y="3017520"/>
            <a:ext cx="2743200" cy="1920240"/>
          </a:xfrm>
          <a:prstGeom prst="rect">
            <a:avLst/>
          </a:prstGeom>
          <a:solidFill>
            <a:srgbClr val="1B4F8A">
              <a:alpha val="22000"/>
            </a:srgbClr>
          </a:solidFill>
          <a:ln w="12700">
            <a:solidFill>
              <a:srgbClr val="2E7DD1">
                <a:alpha val="5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80760" y="3017520"/>
            <a:ext cx="2743200" cy="64008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72200" y="3108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E7DD1"/>
                </a:solidFill>
              </a:rPr>
              <a:t>TEAM ANALYSIS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172200" y="3401568"/>
            <a:ext cx="54864" cy="274320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34015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Range: ₹1,223K – ₹2,071K  (₹848K spread)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172200" y="3877056"/>
            <a:ext cx="54864" cy="274320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387705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All reps within 70% of top performer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172200" y="4352544"/>
            <a:ext cx="54864" cy="274320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09360" y="435254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Coaching bottom 2 reps can close gap significantly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</a:rPr>
              <a:t>KEY INSIGHTS &amp; RECOMMENDATIONS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78992"/>
            <a:ext cx="27432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261872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261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2801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Electronics Focus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93192" y="1783080"/>
            <a:ext cx="24688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1856232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82% revenue share — premium positioning and upsell bundles can maximise margin further.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63824" y="107899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63824" y="1078992"/>
            <a:ext cx="2743200" cy="64008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00984" y="1261872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2E7DD1">
              <a:alpha val="85000"/>
            </a:srgbClr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00984" y="1261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22192" y="12801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North Region Lead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00984" y="1783080"/>
            <a:ext cx="24688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00984" y="1856232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North drives 33.5% of sales. Replicate winning strategies in East (20%) and West (19%).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71616" y="107899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71616" y="1078992"/>
            <a:ext cx="27432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08776" y="1261872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D97706">
              <a:alpha val="8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08776" y="1261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29984" y="12801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Q4 Recovery Signal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08776" y="1783080"/>
            <a:ext cx="24688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08776" y="1856232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Nov–Dec surge signals seasonal demand — pre-load inventory and run targeted campaigns.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30175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3017520"/>
            <a:ext cx="27432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3192" y="3200400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32186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Balanced Sales Team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93192" y="3721608"/>
            <a:ext cx="24688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" y="379476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All 6 reps within ₹850K range. Coach bottom performers with structured sales training.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163824" y="30175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63824" y="3017520"/>
            <a:ext cx="27432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00984" y="3200400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C0392B">
              <a:alpha val="8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00984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822192" y="32186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Grocery Gap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300984" y="3721608"/>
            <a:ext cx="24688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00984" y="379476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Only ₹63K revenue. Evaluate SKU relevance or consider bundling with Electronics.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71616" y="30175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71616" y="3017520"/>
            <a:ext cx="2743200" cy="64008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08776" y="3200400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E879F9">
              <a:alpha val="85000"/>
            </a:srgbClr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08776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729984" y="32186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Discount Strategy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208776" y="3721608"/>
            <a:ext cx="24688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08776" y="379476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Deeper discounts may erode margins. Analyse discount-vs-profit before next cycle.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</a:rPr>
              <a:t>LIMITATIONS &amp; SCOPE BOUNDARIES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Being transparent about what this project does and does not cover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4160520" cy="1207008"/>
          </a:xfrm>
          <a:prstGeom prst="rect">
            <a:avLst/>
          </a:prstGeom>
          <a:solidFill>
            <a:srgbClr val="1B4F8A">
              <a:alpha val="22000"/>
            </a:srgbClr>
          </a:solidFill>
          <a:ln w="12700">
            <a:solidFill>
              <a:srgbClr val="C0392B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60120"/>
            <a:ext cx="4160520" cy="54864"/>
          </a:xfrm>
          <a:prstGeom prst="rect">
            <a:avLst/>
          </a:prstGeom>
          <a:solidFill>
            <a:srgbClr val="C0392B">
              <a:alpha val="75000"/>
            </a:srgbClr>
          </a:solidFill>
          <a:ln w="12700">
            <a:solidFill>
              <a:srgbClr val="C0392B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09728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C0392B">
              <a:alpha val="7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0392" y="10972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Synthetic Dataset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" y="15087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Simulated — not sourced from a live retail system. Findings reflect sample patterns and may not generalise to real-world scenarios.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90872" y="960120"/>
            <a:ext cx="4160520" cy="1207008"/>
          </a:xfrm>
          <a:prstGeom prst="rect">
            <a:avLst/>
          </a:prstGeom>
          <a:solidFill>
            <a:srgbClr val="1B4F8A">
              <a:alpha val="22000"/>
            </a:srgbClr>
          </a:solidFill>
          <a:ln w="12700">
            <a:solidFill>
              <a:srgbClr val="D97706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90872" y="960120"/>
            <a:ext cx="4160520" cy="54864"/>
          </a:xfrm>
          <a:prstGeom prst="rect">
            <a:avLst/>
          </a:prstGeom>
          <a:solidFill>
            <a:srgbClr val="D97706">
              <a:alpha val="75000"/>
            </a:srgbClr>
          </a:solidFill>
          <a:ln w="12700">
            <a:solidFill>
              <a:srgbClr val="D97706">
                <a:alpha val="7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28032" y="109728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D97706">
              <a:alpha val="7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85232" y="10972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 Real-Time Data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28032" y="15087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FY 2024 static snapshot. No live feed or scheduled refresh — new transactions require a manual pipeline re-run.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2313432"/>
            <a:ext cx="4160520" cy="1207008"/>
          </a:xfrm>
          <a:prstGeom prst="rect">
            <a:avLst/>
          </a:prstGeom>
          <a:solidFill>
            <a:srgbClr val="1B4F8A">
              <a:alpha val="22000"/>
            </a:srgbClr>
          </a:solidFill>
          <a:ln w="12700">
            <a:solidFill>
              <a:srgbClr val="2E7DD1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2313432"/>
            <a:ext cx="4160520" cy="54864"/>
          </a:xfrm>
          <a:prstGeom prst="rect">
            <a:avLst/>
          </a:prstGeom>
          <a:solidFill>
            <a:srgbClr val="2E7DD1">
              <a:alpha val="75000"/>
            </a:srgbClr>
          </a:solidFill>
          <a:ln w="12700">
            <a:solidFill>
              <a:srgbClr val="2E7DD1">
                <a:alpha val="7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" y="245059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2E7DD1">
              <a:alpha val="70000"/>
            </a:srgbClr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0392" y="24505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 Predictive Model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" y="286207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Descriptive and diagnostic analysis only. No forecasting or machine learning models — future prediction is outside current scope.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90872" y="2313432"/>
            <a:ext cx="4160520" cy="1207008"/>
          </a:xfrm>
          <a:prstGeom prst="rect">
            <a:avLst/>
          </a:prstGeom>
          <a:solidFill>
            <a:srgbClr val="1B4F8A">
              <a:alpha val="22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90872" y="2313432"/>
            <a:ext cx="4160520" cy="54864"/>
          </a:xfrm>
          <a:prstGeom prst="rect">
            <a:avLst/>
          </a:prstGeom>
          <a:solidFill>
            <a:srgbClr val="0D9488">
              <a:alpha val="75000"/>
            </a:srgbClr>
          </a:solidFill>
          <a:ln w="12700">
            <a:solidFill>
              <a:srgbClr val="0D9488">
                <a:alpha val="7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28032" y="245059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85232" y="24505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Single Data Source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28032" y="286207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All data from one Excel file. No CRM, inventory, or external market data integration — cross-source validation not performed.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" y="3666744"/>
            <a:ext cx="4160520" cy="1207008"/>
          </a:xfrm>
          <a:prstGeom prst="rect">
            <a:avLst/>
          </a:prstGeom>
          <a:solidFill>
            <a:srgbClr val="1B4F8A">
              <a:alpha val="22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3666744"/>
            <a:ext cx="4160520" cy="54864"/>
          </a:xfrm>
          <a:prstGeom prst="rect">
            <a:avLst/>
          </a:prstGeom>
          <a:solidFill>
            <a:srgbClr val="8B5CF6">
              <a:alpha val="75000"/>
            </a:srgbClr>
          </a:solidFill>
          <a:ln w="12700">
            <a:solidFill>
              <a:srgbClr val="8B5CF6">
                <a:alpha val="7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3192" y="380390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8B5CF6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0392" y="380390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Limited Categories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93192" y="421538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Only 4 categories and 4 regions. A real retail operation would have more segments — generalisation is difficult from this sample.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90872" y="3666744"/>
            <a:ext cx="4160520" cy="1207008"/>
          </a:xfrm>
          <a:prstGeom prst="rect">
            <a:avLst/>
          </a:prstGeom>
          <a:solidFill>
            <a:srgbClr val="1B4F8A">
              <a:alpha val="22000"/>
            </a:srgbClr>
          </a:solidFill>
          <a:ln w="12700">
            <a:solidFill>
              <a:srgbClr val="E879F9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90872" y="3666744"/>
            <a:ext cx="4160520" cy="54864"/>
          </a:xfrm>
          <a:prstGeom prst="rect">
            <a:avLst/>
          </a:prstGeom>
          <a:solidFill>
            <a:srgbClr val="E879F9">
              <a:alpha val="75000"/>
            </a:srgbClr>
          </a:solidFill>
          <a:ln w="12700">
            <a:solidFill>
              <a:srgbClr val="E879F9">
                <a:alpha val="7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28032" y="380390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E879F9">
              <a:alpha val="70000"/>
            </a:srgbClr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85232" y="380390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 Profitability Data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28032" y="421538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Dataset tracks revenue (TotalSales) only — not cost or profit. Margin analysis and ROI measurement are outside available data.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</a:rPr>
              <a:t>CONCLUSION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What this project demonstrated and what was learned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107899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What Was Achieved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490472"/>
            <a:ext cx="54864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Built a complete end-to-end data analytics pipeline from raw Excel to interactive dashboard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54864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92808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Cleaned and structured 500 transaction records with zero data loss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441448"/>
            <a:ext cx="54864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68296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Wrote 12 SQL queries covering revenue, trends, discounts, and top performers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916936"/>
            <a:ext cx="54864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43784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Generated 4 Python matplotlib charts and a multi-page Power BI dashboard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392424"/>
            <a:ext cx="54864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19272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Extracted 6 actionable business insights with supporting data evidence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0" y="107899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Key Learnings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41732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417320"/>
            <a:ext cx="73152" cy="749808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14721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Python &amp; pandas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19472" y="18196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Data type conversion, groupby aggregations, feature engineering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28600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286000"/>
            <a:ext cx="7315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3408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SQLite &amp; SQL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919472" y="26883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GROUP BY, aggregations, VIEWs, 12 business queries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15468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154680"/>
            <a:ext cx="73152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32095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Power BI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19472" y="35570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Data modelling, DAX measures, interactive slicers, KPI cards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402336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4023360"/>
            <a:ext cx="73152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40782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Data Storytelling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919472" y="44256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Translating numbers into business language for non-technical audiences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Behind the Cart  ·  Adithyan L J  ·  BCA Final Year  ·  Data Analytics  ·  IZEE Business School 2026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B4F8A">
              <a:alpha val="20000"/>
            </a:srgbClr>
          </a:solidFill>
          <a:ln w="12700">
            <a:solidFill>
              <a:srgbClr val="1B4F8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 for Questions &amp; Discussion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1371600" cy="36576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5915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Adithyan L J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72491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BCA Final Year  ·  Data Analytics  ·  IZEE Business School, Bengaluru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D1"/>
                </a:solidFill>
              </a:rPr>
              <a:t>ljadithyan@gmail.com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4015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D1"/>
                </a:solidFill>
              </a:rPr>
              <a:t>linkedin.com/in/adithyan-lj-378181332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5943600" cy="27432"/>
          </a:xfrm>
          <a:prstGeom prst="rect">
            <a:avLst/>
          </a:prstGeom>
          <a:solidFill>
            <a:srgbClr val="1B4F8A">
              <a:alpha val="60000"/>
            </a:srgbClr>
          </a:solidFill>
          <a:ln w="12700">
            <a:solidFill>
              <a:srgbClr val="1B4F8A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9319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</a:rPr>
              <a:t>Project Deliverables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4224528"/>
            <a:ext cx="1042416" cy="256032"/>
          </a:xfrm>
          <a:prstGeom prst="roundRect">
            <a:avLst>
              <a:gd name="adj" fmla="val 17857"/>
            </a:avLst>
          </a:prstGeom>
          <a:solidFill>
            <a:srgbClr val="2E7DD1">
              <a:alpha val="28000"/>
            </a:srgbClr>
          </a:solidFill>
          <a:ln w="12700">
            <a:solidFill>
              <a:srgbClr val="2E7DD1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22452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analysis.py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591056" y="4224528"/>
            <a:ext cx="1042416" cy="256032"/>
          </a:xfrm>
          <a:prstGeom prst="roundRect">
            <a:avLst>
              <a:gd name="adj" fmla="val 17857"/>
            </a:avLst>
          </a:prstGeom>
          <a:solidFill>
            <a:srgbClr val="D97706">
              <a:alpha val="28000"/>
            </a:srgbClr>
          </a:solidFill>
          <a:ln w="12700">
            <a:solidFill>
              <a:srgbClr val="D97706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91056" y="422452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sales_schema.sql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724912" y="4224528"/>
            <a:ext cx="1042416" cy="256032"/>
          </a:xfrm>
          <a:prstGeom prst="roundRect">
            <a:avLst>
              <a:gd name="adj" fmla="val 17857"/>
            </a:avLst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24912" y="422452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sales_database.db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858768" y="4224528"/>
            <a:ext cx="1042416" cy="256032"/>
          </a:xfrm>
          <a:prstGeom prst="roundRect">
            <a:avLst>
              <a:gd name="adj" fmla="val 17857"/>
            </a:avLst>
          </a:prstGeom>
          <a:solidFill>
            <a:srgbClr val="E879F9">
              <a:alpha val="28000"/>
            </a:srgbClr>
          </a:solidFill>
          <a:ln w="12700">
            <a:solidFill>
              <a:srgbClr val="E879F9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58768" y="422452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sales_charts.png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992624" y="4224528"/>
            <a:ext cx="1042416" cy="256032"/>
          </a:xfrm>
          <a:prstGeom prst="roundRect">
            <a:avLst>
              <a:gd name="adj" fmla="val 17857"/>
            </a:avLst>
          </a:prstGeom>
          <a:solidFill>
            <a:srgbClr val="8B5CF6">
              <a:alpha val="28000"/>
            </a:srgbClr>
          </a:solidFill>
          <a:ln w="1270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92624" y="422452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RETAIL_SALES_DASHBOARD.pbix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Behind the Cart — RetailSales Analytics Dashboard 2024</dc:title>
  <dc:subject>PptxGenJS Presentation</dc:subject>
  <dc:creator>Adithyan LJ</dc:creator>
  <cp:lastModifiedBy>Adithyan LJ</cp:lastModifiedBy>
  <cp:revision>1</cp:revision>
  <dcterms:created xsi:type="dcterms:W3CDTF">2026-05-11T19:30:11Z</dcterms:created>
  <dcterms:modified xsi:type="dcterms:W3CDTF">2026-05-11T19:30:11Z</dcterms:modified>
</cp:coreProperties>
</file>